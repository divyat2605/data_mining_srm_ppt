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ato"/>
      <p:regular r:id="rId17"/>
    </p:embeddedFont>
    <p:embeddedFont>
      <p:font typeface="Lato"/>
      <p:regular r:id="rId18"/>
    </p:embeddedFont>
    <p:embeddedFont>
      <p:font typeface="Lato"/>
      <p:regular r:id="rId19"/>
    </p:embeddedFont>
    <p:embeddedFont>
      <p:font typeface="Lato"/>
      <p:regular r:id="rId20"/>
    </p:embeddedFont>
    <p:embeddedFont>
      <p:font typeface="Lato"/>
      <p:regular r:id="rId21"/>
    </p:embeddedFont>
    <p:embeddedFont>
      <p:font typeface="Lato"/>
      <p:regular r:id="rId22"/>
    </p:embeddedFont>
    <p:embeddedFont>
      <p:font typeface="Lato"/>
      <p:regular r:id="rId23"/>
    </p:embeddedFont>
    <p:embeddedFont>
      <p:font typeface="La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DF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Unlocking Insights: A Journey Through Machine Learning Classification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Made by: Divya Tripathi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RA2311003030547 | BTECH CSE CORE - 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591"/>
            <a:ext cx="128792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Chapter 1: The Foundation - What is Classification?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E5DFD2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63986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Supervised Learning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Algorithms learn from labeled training data to predict categories for new, unseen examples.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E5DFD2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63986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Discrete Categories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Assigns class labels (e.g., "spam" or "not spam") based on patterns in the input data.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E5DFD2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63986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vs. Regression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Classification predicts categories, while regression predicts continuous numerical values.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68881"/>
            <a:ext cx="11356181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Chapter 2: Building the Tree - Decision Tree Induction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12351" y="2549962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Decision Trees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12351" y="3070146"/>
            <a:ext cx="842010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Visual, flowchart-like structures where internal nodes test features, branches represent outcomes, and leaf nodes hold class labels.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2351" y="3795951"/>
            <a:ext cx="3139440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Attribute Selection Measures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2351" y="4256365"/>
            <a:ext cx="842010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Information Gain: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Reduces entropy (impurity) after a split.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2351" y="4683800"/>
            <a:ext cx="842010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Gini Impurity: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Probability of misclassifying a randomly chosen element.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7034" y="1590675"/>
            <a:ext cx="4318397" cy="431839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2351" y="6272212"/>
            <a:ext cx="6522006" cy="1388507"/>
          </a:xfrm>
          <a:prstGeom prst="roundRect">
            <a:avLst>
              <a:gd name="adj" fmla="val 2068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6544" y="648640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ID3 Algorithm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26544" y="6882170"/>
            <a:ext cx="609361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Uses Information Gain for attribute selection. Creates multi-way splits based on categorical features.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395805" y="6272212"/>
            <a:ext cx="6522125" cy="1388507"/>
          </a:xfrm>
          <a:prstGeom prst="roundRect">
            <a:avLst>
              <a:gd name="adj" fmla="val 2068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09999" y="648640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CART Algorithm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609999" y="6882170"/>
            <a:ext cx="609373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Uses Gini Impurity and handles both classification and regression with binary splits.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5DF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1990" y="161925"/>
            <a:ext cx="5270421" cy="7905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642" y="761286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Chapter 3: Refining the Model - Tree Pruning</a:t>
            </a:r>
            <a:endParaRPr lang="en-US" sz="4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42" y="2421731"/>
            <a:ext cx="1080968" cy="12970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43589" y="2637830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2043589" y="3099197"/>
            <a:ext cx="634376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Complex trees overfit training data, performing poorly on new data.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3718798"/>
            <a:ext cx="1080968" cy="15691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43589" y="393489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Solution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2043589" y="4396264"/>
            <a:ext cx="634376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Remove unlikely branches to simplify the tree and improve generalization.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56642" y="572571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Pre-pruning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756642" y="6269474"/>
            <a:ext cx="3551634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Stop tree growth early by setting maximum depth or minimum samples per leaf.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843343" y="572571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Post-pruning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4843343" y="6269474"/>
            <a:ext cx="3551634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Grow full tree first, then remove branches based on validation set performance.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29947"/>
            <a:ext cx="11953042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Chapter 4: Probabilistic Predictions - Bayes Classification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628" y="1525072"/>
            <a:ext cx="4238506" cy="42385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8907" y="3123605"/>
            <a:ext cx="2817614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Bayes' Theorem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38907" y="3631287"/>
            <a:ext cx="8264247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Fundamental theorem for calculating conditional probabilities. Updates beliefs about events based on new evidence.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34628" y="6113383"/>
            <a:ext cx="4216598" cy="1586270"/>
          </a:xfrm>
          <a:prstGeom prst="roundRect">
            <a:avLst>
              <a:gd name="adj" fmla="val 1776"/>
            </a:avLst>
          </a:prstGeom>
          <a:solidFill>
            <a:srgbClr val="E5DFD2"/>
          </a:solidFill>
          <a:ln/>
        </p:spPr>
      </p:sp>
      <p:sp>
        <p:nvSpPr>
          <p:cNvPr id="7" name="Text 4"/>
          <p:cNvSpPr/>
          <p:nvPr/>
        </p:nvSpPr>
        <p:spPr>
          <a:xfrm>
            <a:off x="1022390" y="6301145"/>
            <a:ext cx="305633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Naive Bayesian Classification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2390" y="6687860"/>
            <a:ext cx="384107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Simplified version assuming features are independent given the class label.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06722" y="6113383"/>
            <a:ext cx="4216718" cy="1586270"/>
          </a:xfrm>
          <a:prstGeom prst="roundRect">
            <a:avLst>
              <a:gd name="adj" fmla="val 1776"/>
            </a:avLst>
          </a:prstGeom>
          <a:solidFill>
            <a:srgbClr val="E5DFD2"/>
          </a:solidFill>
          <a:ln/>
        </p:spPr>
      </p:sp>
      <p:sp>
        <p:nvSpPr>
          <p:cNvPr id="10" name="Text 7"/>
          <p:cNvSpPr/>
          <p:nvPr/>
        </p:nvSpPr>
        <p:spPr>
          <a:xfrm>
            <a:off x="5394484" y="630114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"Naive" Assumption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394484" y="6687860"/>
            <a:ext cx="3841194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Independence assumption simplifies calculations significantly, making it very efficient.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9578935" y="6113383"/>
            <a:ext cx="4216718" cy="1586270"/>
          </a:xfrm>
          <a:prstGeom prst="roundRect">
            <a:avLst>
              <a:gd name="adj" fmla="val 1776"/>
            </a:avLst>
          </a:prstGeom>
          <a:solidFill>
            <a:srgbClr val="E5DFD2"/>
          </a:solidFill>
          <a:ln/>
        </p:spPr>
      </p:sp>
      <p:sp>
        <p:nvSpPr>
          <p:cNvPr id="13" name="Text 10"/>
          <p:cNvSpPr/>
          <p:nvPr/>
        </p:nvSpPr>
        <p:spPr>
          <a:xfrm>
            <a:off x="9766697" y="630114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766697" y="6687860"/>
            <a:ext cx="3841194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Widely used for text classification (spam filtering) and medical diagnosis.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22089"/>
            <a:ext cx="11004590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Chapter 5: Learning Complex Patterns - Advanced Classifiers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568" y="1265753"/>
            <a:ext cx="5551289" cy="55512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0568" y="6934200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Backpropagation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690568" y="7259241"/>
            <a:ext cx="5551289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algorithm for training Artificial Neural Networks. Efficiently calculates gradients to update weights and minimize errors.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04" y="1265753"/>
            <a:ext cx="5551408" cy="5551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88304" y="6934319"/>
            <a:ext cx="2306122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Support Vector Machines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88304" y="7259360"/>
            <a:ext cx="5551408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Finds optimal hyperplane separating different classes in high-dimensional space. Uses kernel tricks for non-linear data.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726162"/>
            <a:ext cx="10729079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Chapter 6: The "Lazy" and "Eager" Learners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299960" y="1863447"/>
            <a:ext cx="30480" cy="5639991"/>
          </a:xfrm>
          <a:prstGeom prst="roundRect">
            <a:avLst>
              <a:gd name="adj" fmla="val 109884"/>
            </a:avLst>
          </a:prstGeom>
          <a:solidFill>
            <a:srgbClr val="CBC5B8"/>
          </a:solidFill>
          <a:ln/>
        </p:spPr>
      </p:sp>
      <p:sp>
        <p:nvSpPr>
          <p:cNvPr id="4" name="Shape 2"/>
          <p:cNvSpPr/>
          <p:nvPr/>
        </p:nvSpPr>
        <p:spPr>
          <a:xfrm>
            <a:off x="750927" y="1863447"/>
            <a:ext cx="6533793" cy="2568059"/>
          </a:xfrm>
          <a:prstGeom prst="roundRect">
            <a:avLst>
              <a:gd name="adj" fmla="val 1304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3712250" y="2086689"/>
            <a:ext cx="3349228" cy="418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Lazy Learners (KNN)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74169" y="2637115"/>
            <a:ext cx="6087308" cy="157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Memorize training data, defer computation until prediction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Find 'k' nearest neighbors, assign majority class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Simple to implement but computationally expensive during prediction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345680" y="4871085"/>
            <a:ext cx="6533793" cy="2632353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7568922" y="5094327"/>
            <a:ext cx="6087308" cy="83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Eager Learners (Decision Trees, SVMs, Neural Networks)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568922" y="6063377"/>
            <a:ext cx="6087308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generalized model during training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Faster prediction using pre-built model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 more upfront training time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394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Chapter 7: Measuring Success - Evaluating Classifier Performance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985135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3063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Accuracy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30906" y="3553420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Overall correct predictions divided by total predictions made.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985135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73008" y="3063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73008" y="3553420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True positives / (True positives + False positives). How many predicted positives were actually positive?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985135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15111" y="3063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Recall (Sensitivity)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415111" y="3553420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True positives / (True positives + False negatives). How many actual positives were correctly identified?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458658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30906" y="5536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F1-Score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530906" y="602694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Harmonic mean of precision and recall, balancing both metrics.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5458658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3008" y="5536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ROC Curve &amp; AUC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973008" y="6026944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Visualizes trade-off between true positive rate and false positive rate across different thresholds.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52569"/>
            <a:ext cx="11660386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Chapter 8: Boosting Accuracy and Making Predictions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228" y="2669381"/>
            <a:ext cx="4427220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Improving Classification Accuracy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2228" y="3223260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2228" y="3531632"/>
            <a:ext cx="4144447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6" name="Text 4"/>
          <p:cNvSpPr/>
          <p:nvPr/>
        </p:nvSpPr>
        <p:spPr>
          <a:xfrm>
            <a:off x="682228" y="367474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Ensemble Methods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2228" y="4146709"/>
            <a:ext cx="4144447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Combine multiple models (Random Forests, Gradient Boosting) for improved robustness.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94077" y="3223260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94077" y="3531632"/>
            <a:ext cx="4144566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0" name="Text 8"/>
          <p:cNvSpPr/>
          <p:nvPr/>
        </p:nvSpPr>
        <p:spPr>
          <a:xfrm>
            <a:off x="4994077" y="367474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994077" y="4146709"/>
            <a:ext cx="414456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new, more informative features from existing data.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2228" y="5040035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2228" y="5348407"/>
            <a:ext cx="8456414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4" name="Text 12"/>
          <p:cNvSpPr/>
          <p:nvPr/>
        </p:nvSpPr>
        <p:spPr>
          <a:xfrm>
            <a:off x="682228" y="549152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Cross-Validation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2228" y="5963483"/>
            <a:ext cx="84564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Evaluate performance using different data subsets for robust assessment.</a:t>
            </a:r>
            <a:endParaRPr lang="en-US" sz="15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1798" y="1601272"/>
            <a:ext cx="4333875" cy="433387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621798" y="6123503"/>
            <a:ext cx="2923937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Regression Analysis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9621798" y="6656427"/>
            <a:ext cx="4333875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While classification predicts categories, regression predicts continuous numerical values—a related but distinct supervised learning task.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DF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79" y="148709"/>
            <a:ext cx="5288042" cy="7932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1011" y="700921"/>
            <a:ext cx="7754779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Future of Classification: Smarter Decisions, Deeper Insights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6181011" y="2201466"/>
            <a:ext cx="3790593" cy="2485430"/>
          </a:xfrm>
          <a:prstGeom prst="roundRect">
            <a:avLst>
              <a:gd name="adj" fmla="val 1198"/>
            </a:avLst>
          </a:prstGeom>
          <a:solidFill>
            <a:srgbClr val="E5DFD2"/>
          </a:solidFill>
          <a:ln/>
        </p:spPr>
      </p:sp>
      <p:sp>
        <p:nvSpPr>
          <p:cNvPr id="6" name="Shape 3"/>
          <p:cNvSpPr/>
          <p:nvPr/>
        </p:nvSpPr>
        <p:spPr>
          <a:xfrm>
            <a:off x="6379369" y="239982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8282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3080" y="2563416"/>
            <a:ext cx="267891" cy="2678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9369" y="31687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Medical Diagnosis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6379369" y="3583067"/>
            <a:ext cx="3393877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Precision healthcare through automated analysis and pattern recognition.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10145197" y="2201466"/>
            <a:ext cx="3790593" cy="2485430"/>
          </a:xfrm>
          <a:prstGeom prst="roundRect">
            <a:avLst>
              <a:gd name="adj" fmla="val 1198"/>
            </a:avLst>
          </a:prstGeom>
          <a:solidFill>
            <a:srgbClr val="E5DFD2"/>
          </a:solidFill>
          <a:ln/>
        </p:spPr>
      </p:sp>
      <p:sp>
        <p:nvSpPr>
          <p:cNvPr id="11" name="Shape 7"/>
          <p:cNvSpPr/>
          <p:nvPr/>
        </p:nvSpPr>
        <p:spPr>
          <a:xfrm>
            <a:off x="10343555" y="239982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8282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7266" y="2563416"/>
            <a:ext cx="267891" cy="2678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43555" y="3168729"/>
            <a:ext cx="339387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Personalized Recommendations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10343555" y="3893225"/>
            <a:ext cx="339387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Tailored experiences powered by sophisticated classification algorithms.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181011" y="4860488"/>
            <a:ext cx="7754779" cy="1877616"/>
          </a:xfrm>
          <a:prstGeom prst="roundRect">
            <a:avLst>
              <a:gd name="adj" fmla="val 1586"/>
            </a:avLst>
          </a:prstGeom>
          <a:solidFill>
            <a:srgbClr val="E5DFD2"/>
          </a:solidFill>
          <a:ln/>
        </p:spPr>
      </p:sp>
      <p:sp>
        <p:nvSpPr>
          <p:cNvPr id="16" name="Shape 11"/>
          <p:cNvSpPr/>
          <p:nvPr/>
        </p:nvSpPr>
        <p:spPr>
          <a:xfrm>
            <a:off x="6379369" y="5058847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28282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3080" y="5222438"/>
            <a:ext cx="267891" cy="2678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79369" y="58277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 Foundation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6379369" y="6242090"/>
            <a:ext cx="73580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Machine learning classification drives advancements across all AI applications.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181011" y="6933367"/>
            <a:ext cx="77547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 algorithms become more sophisticated and data more abundant, classification will continue to unlock unprecedented levels of insight and automation across every industry.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2026-04-15T18:05:15Z</dcterms:created>
  <dcterms:modified xsi:type="dcterms:W3CDTF">2026-04-15T18:05:15Z</dcterms:modified>
</cp:coreProperties>
</file>